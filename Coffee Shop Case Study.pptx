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9663"/>
  </p:normalViewPr>
  <p:slideViewPr>
    <p:cSldViewPr snapToGrid="0">
      <p:cViewPr varScale="1">
        <p:scale>
          <a:sx n="100" d="100"/>
          <a:sy n="100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1FA78-A302-AD4E-8AF7-1E8EB7542460}" type="datetimeFigureOut">
              <a:rPr lang="en-US" smtClean="0"/>
              <a:t>9/17/24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35F0B-7669-E643-8E10-CC3F1C17F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/>
              <a:t>Out of the 521 order records in the orders table, 430 are unique, while 91 are duplicate orders, as some customers placed multiple items.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r>
              <a:rPr lang="en-IN" dirty="0"/>
              <a:t>Two additional charts could be added such as top 5 Items by dine-In vs takeaway and top 5 items by item category to provide more granular level analysis.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35F0B-7669-E643-8E10-CC3F1C17FD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6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There are a total of 14 unique SKUs or recipes, out of which 10 have multiple item sizes, such as medium and large. There are a total of 18 ingredients used in different recipes.</a:t>
            </a:r>
          </a:p>
          <a:p>
            <a:endParaRPr lang="en-IN" dirty="0"/>
          </a:p>
          <a:p>
            <a:r>
              <a:rPr lang="en-IN" dirty="0"/>
              <a:t>ING002 is used in 9 out of 14 distinct recipes, whereas ING011 and ING012 are used in 1 and 2 recipes,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35F0B-7669-E643-8E10-CC3F1C17FD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3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ING001 – Whole Milk (27%), ING001 – Espresso Beans (15%), and ING015 – Ham (12%) together make up 54% of the total expenses for all ingredients.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35F0B-7669-E643-8E10-CC3F1C17FD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98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9/13/24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0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9/13/24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6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9/13/24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0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9/13/24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2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9/13/24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45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9/13/24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9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9/13/24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6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9/13/24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2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9/13/24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5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9/13/24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9/13/24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9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9/13/24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723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40C85150-646B-4AB7-9F43-FC7AB7E6D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5" y="1559143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A468A46-2C31-7C91-9A18-9BCF66871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178" y="725467"/>
            <a:ext cx="6015806" cy="22476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/>
              <a:t>Coffee Shop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A2F2E-2C2A-8336-4198-D887E55E5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428" y="4800951"/>
            <a:ext cx="2894147" cy="1499851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228600" indent="-228600" algn="l">
              <a:buFont typeface="+mj-lt"/>
              <a:buAutoNum type="arabicPeriod"/>
            </a:pPr>
            <a:endParaRPr lang="en-US" sz="1800" dirty="0"/>
          </a:p>
          <a:p>
            <a:pPr marL="228600" indent="-228600" algn="l">
              <a:buFont typeface="+mj-lt"/>
              <a:buAutoNum type="arabicPeriod"/>
            </a:pPr>
            <a:endParaRPr lang="en-US" sz="1800" dirty="0"/>
          </a:p>
          <a:p>
            <a:pPr algn="l"/>
            <a:r>
              <a:rPr lang="en-US" sz="1800" dirty="0"/>
              <a:t>Created by Sumit Jha</a:t>
            </a:r>
          </a:p>
          <a:p>
            <a:pPr algn="l"/>
            <a:r>
              <a:rPr lang="en-US" sz="1800" dirty="0"/>
              <a:t>Date: 13/09/2024</a:t>
            </a:r>
          </a:p>
        </p:txBody>
      </p:sp>
      <p:pic>
        <p:nvPicPr>
          <p:cNvPr id="4" name="Picture 3" descr="Espresso machine with earth coffee">
            <a:extLst>
              <a:ext uri="{FF2B5EF4-FFF2-40B4-BE49-F238E27FC236}">
                <a16:creationId xmlns:a16="http://schemas.microsoft.com/office/drawing/2014/main" id="{0FC11AE1-D496-FA4A-554E-2D471A48DD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03" r="12169" b="-1"/>
          <a:stretch/>
        </p:blipFill>
        <p:spPr>
          <a:xfrm>
            <a:off x="6075730" y="-3440"/>
            <a:ext cx="6129239" cy="686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35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6BC3-D7DB-4DC2-2922-B918800E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77379-4DCD-5DC4-E49E-4B97AE443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The objective of this analysis is to uncover actionable insights and provide recommendations from the "Coffee Shop Data" datasets to support data-driven decisions and enhance business operations.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Throughout the analysis, seven different tables were used: Orders, Items, Recipes, Ingredients, Inventory, Staff, Shifts, and Rota.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495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95B3-2FAA-A8C7-AC8A-94932230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Sections of the Analysis: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518AF-EA7A-30CF-D2CE-A0B9FC8B5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1: Sales Analysis</a:t>
            </a:r>
          </a:p>
          <a:p>
            <a:pPr marL="0" indent="0">
              <a:buNone/>
            </a:pPr>
            <a:r>
              <a:rPr lang="en-US" dirty="0"/>
              <a:t>2: Recipe and Ingredient Usage Analysis</a:t>
            </a:r>
          </a:p>
          <a:p>
            <a:pPr marL="0" indent="0">
              <a:buNone/>
            </a:pPr>
            <a:r>
              <a:rPr lang="en-US" dirty="0"/>
              <a:t>3: Ingredient Cost Analysis</a:t>
            </a:r>
          </a:p>
          <a:p>
            <a:pPr marL="0" indent="0">
              <a:buNone/>
            </a:pPr>
            <a:r>
              <a:rPr lang="en-US" dirty="0"/>
              <a:t>4: Inventory and Ingredient Stock Analysis</a:t>
            </a:r>
          </a:p>
          <a:p>
            <a:pPr marL="0" indent="0">
              <a:buNone/>
            </a:pPr>
            <a:r>
              <a:rPr lang="en-US" dirty="0"/>
              <a:t>5: Staff Scheduling Analysis</a:t>
            </a:r>
          </a:p>
          <a:p>
            <a:pPr marL="0" indent="0">
              <a:buNone/>
            </a:pPr>
            <a:r>
              <a:rPr lang="en-US" dirty="0"/>
              <a:t>6: Item Profitability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6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4" name="Rectangle 1223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26" name="Rectangle 1225">
            <a:extLst>
              <a:ext uri="{FF2B5EF4-FFF2-40B4-BE49-F238E27FC236}">
                <a16:creationId xmlns:a16="http://schemas.microsoft.com/office/drawing/2014/main" id="{26222098-34BD-4328-93AF-F8000B8A0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28" name="Right Triangle 1227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5255" y="-277985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" name="Freeform: Shape 1229">
            <a:extLst>
              <a:ext uri="{FF2B5EF4-FFF2-40B4-BE49-F238E27FC236}">
                <a16:creationId xmlns:a16="http://schemas.microsoft.com/office/drawing/2014/main" id="{853F99AE-CDDD-4AA6-B570-8A6E693F2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195" y="4554328"/>
            <a:ext cx="12228056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32" name="Group 1231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233" name="Straight Connector 1232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4" name="Straight Connector 1233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Straight Connector 1234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1250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2" name="Straight Connector 1251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1252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4" name="Straight Connector 1253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1254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6" name="Straight Connector 1255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1256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8" name="Straight Connector 1257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1258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0" name="Straight Connector 1259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1" name="Straight Connector 1260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BA6517-4E13-A6DB-8C64-1ABAFE25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58" y="171715"/>
            <a:ext cx="3950772" cy="631967"/>
          </a:xfrm>
        </p:spPr>
        <p:txBody>
          <a:bodyPr anchor="t">
            <a:no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1: Sales Analysis</a:t>
            </a:r>
            <a:br>
              <a:rPr lang="en-US" sz="3600" dirty="0">
                <a:solidFill>
                  <a:schemeClr val="tx2"/>
                </a:solidFill>
              </a:rPr>
            </a:b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6AF47AF8-8E1E-AD3E-6105-D3E7D9548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7146" y="183585"/>
            <a:ext cx="7649500" cy="334286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Key Insights:</a:t>
            </a:r>
          </a:p>
          <a:p>
            <a:pPr marL="0" indent="0" algn="just">
              <a:buNone/>
            </a:pPr>
            <a:r>
              <a:rPr lang="en-IN" sz="1400" dirty="0">
                <a:solidFill>
                  <a:schemeClr val="tx1"/>
                </a:solidFill>
              </a:rPr>
              <a:t>1. Total sales over the period were £1,863.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IN" sz="1400" dirty="0">
                <a:solidFill>
                  <a:schemeClr val="tx1"/>
                </a:solidFill>
              </a:rPr>
              <a:t>Sales were highest on day 12 (£454), then decreased until day 16, and increased again on day 17 (£339). Average daily sales were about £310.</a:t>
            </a:r>
          </a:p>
          <a:p>
            <a:pPr marL="0" indent="0" algn="just">
              <a:buNone/>
            </a:pPr>
            <a:r>
              <a:rPr lang="en-IN" sz="1400" dirty="0">
                <a:solidFill>
                  <a:schemeClr val="tx1"/>
                </a:solidFill>
              </a:rPr>
              <a:t>2. Customers have spent more on Takeaway than on Dine-In, indicating a higher demand for Takeaway orders.</a:t>
            </a:r>
          </a:p>
          <a:p>
            <a:pPr marL="0" indent="0" algn="just">
              <a:buNone/>
            </a:pPr>
            <a:r>
              <a:rPr lang="en-IN" sz="1400" dirty="0">
                <a:solidFill>
                  <a:schemeClr val="tx1"/>
                </a:solidFill>
              </a:rPr>
              <a:t> 3. Cold Mocha (13.6%) and White Mocha (13.2%) are the top-selling items, indicating they are the most popular beverages among customers. Cold Coffee is the least popular, generating the lowest sales.</a:t>
            </a:r>
          </a:p>
          <a:p>
            <a:pPr marL="0" indent="0" algn="just">
              <a:buNone/>
            </a:pPr>
            <a:r>
              <a:rPr lang="en-IN" sz="1400" dirty="0">
                <a:solidFill>
                  <a:schemeClr val="tx1"/>
                </a:solidFill>
              </a:rPr>
              <a:t>4. In terms of item categories, Hot Drinks (58%) are the top sellers, followed by Cold Drinks (31%). Snacks are less popular (11%).</a:t>
            </a:r>
          </a:p>
          <a:p>
            <a:pPr marL="0" indent="0" algn="just"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ABCA2A9-345F-E512-53DE-57865A7B0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8743" y="3865269"/>
            <a:ext cx="2882532" cy="260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72FE209-6048-AB55-8216-44A66C9F5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593" y="718047"/>
            <a:ext cx="3957781" cy="297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0354582A-6F31-5C26-2A83-783BB5921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145" y="3625568"/>
            <a:ext cx="5392368" cy="30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B2B96C9-C0ED-392C-2EE6-109798556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633" y="3653776"/>
            <a:ext cx="3110977" cy="288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738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F5A009-4474-567B-B3BC-53377298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27" y="133086"/>
            <a:ext cx="7998668" cy="85411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2: Recipe and Ingredient Usage Analysis</a:t>
            </a:r>
            <a:br>
              <a:rPr lang="en-US" sz="3700" dirty="0">
                <a:solidFill>
                  <a:schemeClr val="tx2"/>
                </a:solidFill>
              </a:rPr>
            </a:br>
            <a:endParaRPr lang="en-US" sz="37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22D9D-3BCB-0CBA-4558-FD4BEBC18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46" y="900623"/>
            <a:ext cx="6635548" cy="577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Key Insights:</a:t>
            </a:r>
            <a:endParaRPr lang="en-US" sz="1800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r>
              <a:rPr lang="en-IN" sz="1400" dirty="0">
                <a:solidFill>
                  <a:schemeClr val="tx1"/>
                </a:solidFill>
              </a:rPr>
              <a:t>1. Ingredient usage is heavily skewed, with one ingredient (ING002- Whole Milk) dominating the total. Most other ingredients are used in relatively small amounts.</a:t>
            </a:r>
          </a:p>
          <a:p>
            <a:pPr marL="0" indent="0" algn="just">
              <a:buNone/>
            </a:pPr>
            <a:r>
              <a:rPr lang="en-US" sz="1400" dirty="0">
                <a:solidFill>
                  <a:schemeClr val="tx1"/>
                </a:solidFill>
              </a:rPr>
              <a:t>2. </a:t>
            </a:r>
            <a:r>
              <a:rPr lang="en-IN" sz="1400" dirty="0">
                <a:solidFill>
                  <a:schemeClr val="tx1"/>
                </a:solidFill>
              </a:rPr>
              <a:t>The extremely high usage of ING002 (76%) suggests it is essential to many recipes, making it a core ingredient.</a:t>
            </a:r>
          </a:p>
          <a:p>
            <a:pPr marL="0" indent="0" algn="just">
              <a:buNone/>
            </a:pPr>
            <a:r>
              <a:rPr lang="en-IN" sz="1400" dirty="0">
                <a:solidFill>
                  <a:schemeClr val="tx1"/>
                </a:solidFill>
              </a:rPr>
              <a:t>3. ING011 and ING014 are rarely used, showing they are not needed in many recipes.</a:t>
            </a:r>
          </a:p>
          <a:p>
            <a:pPr marL="0" indent="0" algn="just">
              <a:buNone/>
            </a:pPr>
            <a:r>
              <a:rPr lang="en-IN" sz="1400" dirty="0">
                <a:solidFill>
                  <a:schemeClr val="tx1"/>
                </a:solidFill>
              </a:rPr>
              <a:t>4. Most ingredients are used in small quantities, indicating a wide variety of recipes.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2DCB9F6-4429-486E-BEF5-804D929A2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073" y="742244"/>
            <a:ext cx="5203093" cy="5314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69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5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67" name="Group 16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8" name="Freeform: Shape 19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9" name="Freeform: Shape 19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0" name="Freeform: Shape 195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71" name="Group 197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72" name="Rectangle 228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3" name="Rectangle 230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473A47A-1054-9C6C-DDD8-08A26027F3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t="1210" r="-1" b="14499"/>
          <a:stretch/>
        </p:blipFill>
        <p:spPr>
          <a:xfrm>
            <a:off x="-12966" y="10"/>
            <a:ext cx="12188932" cy="6857990"/>
          </a:xfrm>
          <a:prstGeom prst="rect">
            <a:avLst/>
          </a:prstGeom>
        </p:spPr>
      </p:pic>
      <p:grpSp>
        <p:nvGrpSpPr>
          <p:cNvPr id="274" name="Group 232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34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2D442-244D-C783-C933-F922FB14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29" y="171715"/>
            <a:ext cx="8191122" cy="7873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3: Ingredient Cost Analysis</a:t>
            </a:r>
            <a:br>
              <a:rPr lang="en-US" sz="3200" dirty="0">
                <a:solidFill>
                  <a:schemeClr val="tx2"/>
                </a:solidFill>
              </a:rPr>
            </a:b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264" name="Right Triangle 263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E09EE-E3D5-0F5C-EF14-E96B74F73031}"/>
              </a:ext>
            </a:extLst>
          </p:cNvPr>
          <p:cNvSpPr txBox="1"/>
          <p:nvPr/>
        </p:nvSpPr>
        <p:spPr>
          <a:xfrm>
            <a:off x="5555001" y="1598390"/>
            <a:ext cx="6255545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Key Insights: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IN" sz="1400" dirty="0"/>
              <a:t>1. ING002 is the major cost driver, representing the largest expense among ingredients.</a:t>
            </a:r>
            <a:endParaRPr lang="en-US" sz="1400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chemeClr val="tx2"/>
                </a:solidFill>
              </a:rPr>
              <a:t>2. </a:t>
            </a:r>
            <a:r>
              <a:rPr lang="en-IN" sz="1400" dirty="0"/>
              <a:t>ING001 and ING015 also incur significant costs, showing their importance in recipes.</a:t>
            </a:r>
          </a:p>
          <a:p>
            <a:pPr marL="0" indent="0" algn="just">
              <a:buNone/>
            </a:pPr>
            <a:endParaRPr lang="en-IN" sz="1400" dirty="0">
              <a:solidFill>
                <a:schemeClr val="tx2"/>
              </a:solidFill>
            </a:endParaRPr>
          </a:p>
          <a:p>
            <a:pPr marL="0" indent="0" algn="just">
              <a:buNone/>
            </a:pPr>
            <a:r>
              <a:rPr lang="en-IN" sz="1400" dirty="0">
                <a:solidFill>
                  <a:schemeClr val="tx2"/>
                </a:solidFill>
              </a:rPr>
              <a:t>3.</a:t>
            </a:r>
            <a:r>
              <a:rPr lang="en-IN" sz="1400" dirty="0"/>
              <a:t> Most other ingredients have lower costs, with ING014 and ING011 being the least expensive.</a:t>
            </a:r>
            <a:endParaRPr lang="en-US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3F654EA4-7AC5-AF4D-86AE-D64108792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4" y="1286087"/>
            <a:ext cx="4824434" cy="496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90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F964-37FD-852F-77FE-832FAF9E5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10722932" cy="415926"/>
          </a:xfrm>
        </p:spPr>
        <p:txBody>
          <a:bodyPr>
            <a:noAutofit/>
          </a:bodyPr>
          <a:lstStyle/>
          <a:p>
            <a:r>
              <a:rPr lang="en-US" sz="3200"/>
              <a:t>4: Inventory and Ingredient Stock Analysis</a:t>
            </a:r>
            <a:br>
              <a:rPr lang="en-US" sz="3200"/>
            </a:br>
            <a:endParaRPr lang="en-US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3401D48-1E79-7AE4-609F-EFD90E59FE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57239"/>
            <a:ext cx="5286374" cy="360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6FA3D2B-6FD2-8E4E-BFB0-CD9AC84D3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699" y="781051"/>
            <a:ext cx="6036631" cy="357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C1AD8C-6E2B-982B-0D68-F1FBDEFFFDAC}"/>
              </a:ext>
            </a:extLst>
          </p:cNvPr>
          <p:cNvSpPr txBox="1"/>
          <p:nvPr/>
        </p:nvSpPr>
        <p:spPr>
          <a:xfrm>
            <a:off x="157162" y="2974479"/>
            <a:ext cx="1169441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sz="1800" dirty="0">
                <a:solidFill>
                  <a:schemeClr val="tx1"/>
                </a:solidFill>
              </a:rPr>
              <a:t>Key Insights:</a:t>
            </a:r>
          </a:p>
          <a:p>
            <a:endParaRPr lang="en-IN" dirty="0"/>
          </a:p>
          <a:p>
            <a:pPr algn="just"/>
            <a:r>
              <a:rPr lang="en-IN" sz="1400" dirty="0"/>
              <a:t>1. Cocoa Powder (£110) and Ham (£82.50) have the highest total values, indicating they are both expensive and used in significant quantities.</a:t>
            </a:r>
          </a:p>
          <a:p>
            <a:pPr marL="342900" indent="-342900" algn="just">
              <a:buAutoNum type="arabicPeriod"/>
            </a:pPr>
            <a:endParaRPr lang="en-IN" sz="1400" dirty="0"/>
          </a:p>
          <a:p>
            <a:pPr algn="just"/>
            <a:r>
              <a:rPr lang="en-IN" sz="1400" dirty="0"/>
              <a:t>2. Whole Milk is important because of its high stock level, showing it’s a key ingredient with a large inventory.</a:t>
            </a:r>
          </a:p>
          <a:p>
            <a:pPr algn="just"/>
            <a:endParaRPr lang="en-IN" sz="1400" dirty="0"/>
          </a:p>
          <a:p>
            <a:pPr algn="just"/>
            <a:r>
              <a:rPr lang="en-IN" sz="1400" dirty="0"/>
              <a:t>3. Many ingredients have lower total values, indicating they are less costly or used less frequently.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219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52FBC4-3F5A-E691-D3F7-F81620376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36" y="239025"/>
            <a:ext cx="5776860" cy="6091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5: Staff Scheduling Analysis</a:t>
            </a:r>
            <a:br>
              <a:rPr lang="en-US" sz="3200" dirty="0">
                <a:solidFill>
                  <a:schemeClr val="tx2"/>
                </a:solidFill>
              </a:rPr>
            </a:b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E66A-AC3B-287D-3F91-8335790DB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04" y="609602"/>
            <a:ext cx="6843964" cy="1790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Key Insights:</a:t>
            </a:r>
          </a:p>
          <a:p>
            <a:pPr marL="0" indent="0" algn="just">
              <a:buNone/>
            </a:pPr>
            <a:r>
              <a:rPr lang="en-US" sz="1400" dirty="0">
                <a:solidFill>
                  <a:schemeClr val="tx1"/>
                </a:solidFill>
              </a:rPr>
              <a:t>1. </a:t>
            </a:r>
            <a:r>
              <a:rPr lang="en-IN" sz="1400" dirty="0">
                <a:solidFill>
                  <a:schemeClr val="tx1"/>
                </a:solidFill>
              </a:rPr>
              <a:t>Staff hours are relatively evenly distributed, with two staff members working 22 hours and two working 26 hours.</a:t>
            </a:r>
          </a:p>
          <a:p>
            <a:pPr marL="0" indent="0" algn="just">
              <a:buNone/>
            </a:pPr>
            <a:r>
              <a:rPr lang="en-US" sz="1400" dirty="0">
                <a:solidFill>
                  <a:schemeClr val="tx1"/>
                </a:solidFill>
              </a:rPr>
              <a:t>2. </a:t>
            </a:r>
            <a:r>
              <a:rPr lang="en-IN" sz="1400" dirty="0">
                <a:solidFill>
                  <a:schemeClr val="tx1"/>
                </a:solidFill>
              </a:rPr>
              <a:t>The coffee shop might need to review and adjust the schedule to ensure that work hours are fairly distributed among all staff.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BCB69C95-E4F7-4204-3E38-7DA9066B1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5649" y="104411"/>
            <a:ext cx="1487216" cy="1117547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75E6E9E1-2A37-2B1F-AA9B-3C404D634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416" y="1250949"/>
            <a:ext cx="4652568" cy="526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F7384D-C62F-917A-EE0E-DCB81B38C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018215"/>
              </p:ext>
            </p:extLst>
          </p:nvPr>
        </p:nvGraphicFramePr>
        <p:xfrm>
          <a:off x="319136" y="2514599"/>
          <a:ext cx="6683143" cy="250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9328">
                  <a:extLst>
                    <a:ext uri="{9D8B030D-6E8A-4147-A177-3AD203B41FA5}">
                      <a16:colId xmlns:a16="http://schemas.microsoft.com/office/drawing/2014/main" val="495124986"/>
                    </a:ext>
                  </a:extLst>
                </a:gridCol>
                <a:gridCol w="1521073">
                  <a:extLst>
                    <a:ext uri="{9D8B030D-6E8A-4147-A177-3AD203B41FA5}">
                      <a16:colId xmlns:a16="http://schemas.microsoft.com/office/drawing/2014/main" val="411851953"/>
                    </a:ext>
                  </a:extLst>
                </a:gridCol>
                <a:gridCol w="1137812">
                  <a:extLst>
                    <a:ext uri="{9D8B030D-6E8A-4147-A177-3AD203B41FA5}">
                      <a16:colId xmlns:a16="http://schemas.microsoft.com/office/drawing/2014/main" val="3577514454"/>
                    </a:ext>
                  </a:extLst>
                </a:gridCol>
                <a:gridCol w="1233626">
                  <a:extLst>
                    <a:ext uri="{9D8B030D-6E8A-4147-A177-3AD203B41FA5}">
                      <a16:colId xmlns:a16="http://schemas.microsoft.com/office/drawing/2014/main" val="4138179306"/>
                    </a:ext>
                  </a:extLst>
                </a:gridCol>
                <a:gridCol w="1401304">
                  <a:extLst>
                    <a:ext uri="{9D8B030D-6E8A-4147-A177-3AD203B41FA5}">
                      <a16:colId xmlns:a16="http://schemas.microsoft.com/office/drawing/2014/main" val="1995244781"/>
                    </a:ext>
                  </a:extLst>
                </a:gridCol>
              </a:tblGrid>
              <a:tr h="27779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Number of shifts between staff members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03171"/>
                  </a:ext>
                </a:extLst>
              </a:tr>
              <a:tr h="277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Staff Name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Emma Johnson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Liam Smith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Noah Brown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Olivia Williams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3133331"/>
                  </a:ext>
                </a:extLst>
              </a:tr>
              <a:tr h="277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Day of Week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2331065"/>
                  </a:ext>
                </a:extLst>
              </a:tr>
              <a:tr h="277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Friday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4776233"/>
                  </a:ext>
                </a:extLst>
              </a:tr>
              <a:tr h="277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Monday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5514505"/>
                  </a:ext>
                </a:extLst>
              </a:tr>
              <a:tr h="277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Saturday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3713536"/>
                  </a:ext>
                </a:extLst>
              </a:tr>
              <a:tr h="277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Thursday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8294367"/>
                  </a:ext>
                </a:extLst>
              </a:tr>
              <a:tr h="277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Tuesday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6034761"/>
                  </a:ext>
                </a:extLst>
              </a:tr>
              <a:tr h="277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Wednesday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8465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480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" name="Rectangle 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3" name="Rectangle 11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2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4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6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CB2E94-4C27-335C-120A-F0D46FF1E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130" y="171717"/>
            <a:ext cx="5643785" cy="815482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6: Item Profitability Analysis</a:t>
            </a:r>
            <a:br>
              <a:rPr lang="en-US" sz="3200" dirty="0">
                <a:solidFill>
                  <a:schemeClr val="tx2"/>
                </a:solidFill>
              </a:rPr>
            </a:b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5F6AC-3191-F43D-9FAA-7921F1AAC06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387335" y="900624"/>
            <a:ext cx="4615186" cy="5347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Key Insights: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1. Most recipes have negative profit margins, where production costs exceed selling prices. For example, the SNK-SHC recipe shows the largest loss at -£1435.75 overall.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2. </a:t>
            </a:r>
            <a:r>
              <a:rPr lang="en-IN" sz="1400" dirty="0">
                <a:solidFill>
                  <a:schemeClr val="tx1"/>
                </a:solidFill>
              </a:rPr>
              <a:t>Only a few recipes, like CDR-LMN-LG and CDR-LMN-MD, are profitable and help boost overall revenue.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3. Top Performers: Recipes with positive profit margins include: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CDR-LMN-LG: Profit margin of £17.25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CDR-LMN-MD: Profit margin of £17.15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4. Bottom Performers: Recipes with the largest losses include: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SNK-SHC: Profit margin of -£1435.75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HDR-HCH-LG: Profit margin of -£1253.80</a:t>
            </a:r>
          </a:p>
          <a:p>
            <a:pPr marL="0" indent="0">
              <a:buNone/>
            </a:pPr>
            <a:endParaRPr lang="en-IN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1400" dirty="0">
              <a:solidFill>
                <a:schemeClr val="tx1"/>
              </a:solidFill>
            </a:endParaRPr>
          </a:p>
        </p:txBody>
      </p:sp>
      <p:pic>
        <p:nvPicPr>
          <p:cNvPr id="157" name="Graphic 6" descr="Money">
            <a:extLst>
              <a:ext uri="{FF2B5EF4-FFF2-40B4-BE49-F238E27FC236}">
                <a16:creationId xmlns:a16="http://schemas.microsoft.com/office/drawing/2014/main" id="{E27245A3-EC7C-9A91-45AD-638571151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3460" y="171715"/>
            <a:ext cx="1166560" cy="942668"/>
          </a:xfrm>
          <a:prstGeom prst="rect">
            <a:avLst/>
          </a:prstGeom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68C36360-D86A-BAA1-3BD3-3D6CCB8E3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50" y="971549"/>
            <a:ext cx="6845630" cy="544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14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4C98-6794-F5A2-5849-837A7D68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620713"/>
          </a:xfrm>
        </p:spPr>
        <p:txBody>
          <a:bodyPr>
            <a:normAutofit/>
          </a:bodyPr>
          <a:lstStyle/>
          <a:p>
            <a:r>
              <a:rPr lang="en-US" sz="3200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2D845-9362-AD9D-DE7B-DB9BC9194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3013"/>
            <a:ext cx="10722932" cy="493395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Increase inventory and marketing efforts for Takeaway orders and Hot Drinks.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000" dirty="0"/>
              <a:t>Review the heavy use of ING002 (Whole Milk) and consider either using it more efficiently or finding alternative sources to reduce costs.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000" dirty="0"/>
              <a:t>Re-evaluate and balance staff work hours to ensure fair distribution and improve overall efficiency.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000" dirty="0"/>
              <a:t>Focus on managing stock levels for high-value ingredients like Cocoa Powder and Ham, and review cost control for major items like ING002 (Whole Milk).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000" dirty="0"/>
              <a:t>Analyse and adjust recipes with negative profit margins and focus on improving the profitability of low-performing items.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IN" sz="2000" dirty="0"/>
              <a:t>Promote top-selling items like Cold Mocha and White Mocha to increase overall sales.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847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3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Freeform: Shape 4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3" name="Freeform: Shape 4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74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05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07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09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8" name="Rectangle 111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9" name="Rectangle 113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6" name="Right Triangle 115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4554328"/>
            <a:ext cx="12197917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A2BEF7-CAEB-A977-99F2-6C687BA5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1" y="168275"/>
            <a:ext cx="7927405" cy="32607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Thank You!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9167F6EE-5B09-FD87-A344-FD19DFF5C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7457" y="2954226"/>
            <a:ext cx="3293981" cy="32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591790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8E3E2"/>
      </a:lt2>
      <a:accent1>
        <a:srgbClr val="4EADCB"/>
      </a:accent1>
      <a:accent2>
        <a:srgbClr val="64AEA1"/>
      </a:accent2>
      <a:accent3>
        <a:srgbClr val="81A0DB"/>
      </a:accent3>
      <a:accent4>
        <a:srgbClr val="D36586"/>
      </a:accent4>
      <a:accent5>
        <a:srgbClr val="DB8C81"/>
      </a:accent5>
      <a:accent6>
        <a:srgbClr val="CF9655"/>
      </a:accent6>
      <a:hlink>
        <a:srgbClr val="AB7564"/>
      </a:hlink>
      <a:folHlink>
        <a:srgbClr val="7F7F7F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9529</TotalTime>
  <Words>987</Words>
  <Application>Microsoft Macintosh PowerPoint</Application>
  <PresentationFormat>Widescreen</PresentationFormat>
  <Paragraphs>130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Avenir Next LT Pro</vt:lpstr>
      <vt:lpstr>Calibri</vt:lpstr>
      <vt:lpstr>Helvetica Neue</vt:lpstr>
      <vt:lpstr>Posterama</vt:lpstr>
      <vt:lpstr>SineVTI</vt:lpstr>
      <vt:lpstr>Coffee Shop Data Analysis</vt:lpstr>
      <vt:lpstr>Objective:</vt:lpstr>
      <vt:lpstr>Sections of the Analysis:</vt:lpstr>
      <vt:lpstr>1: Sales Analysis </vt:lpstr>
      <vt:lpstr>2: Recipe and Ingredient Usage Analysis </vt:lpstr>
      <vt:lpstr>3: Ingredient Cost Analysis </vt:lpstr>
      <vt:lpstr>4: Inventory and Ingredient Stock Analysis </vt:lpstr>
      <vt:lpstr>5: Staff Scheduling Analysis </vt:lpstr>
      <vt:lpstr>6: Item Profitability Analysis </vt:lpstr>
      <vt:lpstr>Recommendations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Sumit Jha</dc:creator>
  <cp:lastModifiedBy>Sumit Jha</cp:lastModifiedBy>
  <cp:revision>29</cp:revision>
  <dcterms:created xsi:type="dcterms:W3CDTF">2024-09-12T18:39:03Z</dcterms:created>
  <dcterms:modified xsi:type="dcterms:W3CDTF">2024-09-19T09:29:56Z</dcterms:modified>
</cp:coreProperties>
</file>